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" id="{04CE20CF-6D76-39D6-53D8-AB9A2988012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D12269-F39E-44C5-B092-5C77FFA3CC61}" v="1" dt="2026-10-23T09:25:24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raddhi Srivastava" userId="4966dab189e6d194" providerId="LiveId" clId="{7722E818-DCD4-4B10-BC7C-781C50361593}"/>
    <pc:docChg chg="modSld">
      <pc:chgData name="Vraddhi Srivastava" userId="4966dab189e6d194" providerId="LiveId" clId="{7722E818-DCD4-4B10-BC7C-781C50361593}" dt="2026-10-23T09:26:15.425" v="14" actId="207"/>
      <pc:docMkLst>
        <pc:docMk/>
      </pc:docMkLst>
      <pc:sldChg chg="modSp mod">
        <pc:chgData name="Vraddhi Srivastava" userId="4966dab189e6d194" providerId="LiveId" clId="{7722E818-DCD4-4B10-BC7C-781C50361593}" dt="2026-10-23T09:26:15.425" v="14" actId="207"/>
        <pc:sldMkLst>
          <pc:docMk/>
          <pc:sldMk cId="0" sldId="271"/>
        </pc:sldMkLst>
        <pc:spChg chg="mod">
          <ac:chgData name="Vraddhi Srivastava" userId="4966dab189e6d194" providerId="LiveId" clId="{7722E818-DCD4-4B10-BC7C-781C50361593}" dt="2026-10-23T09:25:05.748" v="1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Vraddhi Srivastava" userId="4966dab189e6d194" providerId="LiveId" clId="{7722E818-DCD4-4B10-BC7C-781C50361593}" dt="2026-10-23T09:25:11.394" v="2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Vraddhi Srivastava" userId="4966dab189e6d194" providerId="LiveId" clId="{7722E818-DCD4-4B10-BC7C-781C50361593}" dt="2026-10-23T09:26:15.425" v="14" actId="207"/>
          <ac:spMkLst>
            <pc:docMk/>
            <pc:sldMk cId="0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382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program and that you chose Project 02, Hotel Management System. No screenshot needed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goal: an admin-focused hotel app using declarative automation plus one Apex trigger and SOQL. No screenshot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open the Hotel Management System app from the App Launcher and capture the home page showing the logo and navigation tabs. Optional extra: the App Manager list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screenshots from Setup &gt; Object Manager &gt; (object) &gt; Fields &amp; Relationships: Room, Guest, Reservation, Hotel Staff. Make sure the Data Type column is visible, including Lookup(Room) and Lookup(Guest) on 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Object Manager &gt; Reservation &gt; Validation Rules list. Optionally add one open rule showing its formula and error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screenshots: (1) a page layout editor for Reservation, (2) Compact Layouts list or the highlights panel on a record, (3) a Room record showing the Reservations related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screenshots of the Flow Builder canvas, one per flow. Capture the whole flow with the elements and conditions visible, and show that each flow is 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Screenshots: (1) the confirmation email in the guest's inbox, (2) a Room record showing Occupied after check-in and Cleaning after check-out (two quick captures side by side if you like), (3) the cancellation email received by the Hotel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Screenshots: Setup &gt; Users list showing role and profile columns. Optional: the role hierarchy page (Setup &gt; Roles &gt; Expand All) in place of or beside the users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screenshots: (1) Setup &gt; Sharing Settings, Organization-Wide Defaults section, (2) the Sharing Rules lists for Reservation and Guest, (3) one permission set's Object Settings page, for example Receptionist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Setup &gt; Users &gt; Login to view the org as each user, and capture each view: Receptionist (reservation without a Delete option), Housekeeping (Rooms tab only, Room Status editable), Accounts (Estimated Amount visible, Room Status read-only), Hotel Manager or CEO (all reservations visible).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Screenshots: (1) the Reservations by Room Type pie chart, (2) the Monthly Estimated Revenue report, (3) the Today's Check-Ins and Check-Outs dashboard, (4) the Room Counts by Status dashboard. Other reports can go in an appendix slide if you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the ReservationTrigger and ReservationTriggerHandler code (Setup &gt; Apex Classes / Object Manager &gt; Reservation &gt; Triggers, or Developer Console). Explain the three rules and that Flow 2 handles check-in and check-out.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Screenshots: (1) a valid reservation saved and the room showing Reserved, (2) the overlap error on a second insert, (3) the overlap error on an update. Test 5 is covered by the SOQL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Screenshots: Developer Console Query Editor showing Query 5 (parent-to-child) and Query 6 (child-to-parent) with the result grids. Queries 1 to 4 (room, guest, active, date range) can go in an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walking through the checklist and mention the implementation notes: flow handles check-in/out room status, trigger handles Reserved and Available, and the Active checkbox covers the inactive-staff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4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6PEJO3l_uV21CiDHBBvz2OTBH9vUqDLY?usp=shar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</a:rPr>
              <a:t>CAPSTONE PROJECT 02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Hotel Management System</a:t>
            </a:r>
            <a:endParaRPr lang="en-US" sz="4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Salesforce Admin and Development Capstone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LNCT Group of Colleges  |  Salesforce COE</a:t>
            </a:r>
          </a:p>
          <a:p>
            <a:r>
              <a:rPr lang="en-US" b="1" dirty="0">
                <a:solidFill>
                  <a:srgbClr val="00B0F0"/>
                </a:solidFill>
              </a:rPr>
              <a:t>Vraddhi Srivastava  |  0176AL231155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Admin-focused hotel app on Salesforce Lightning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Rooms, guests, reservations, check-in and check-out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Record-Triggered Flows and email notifications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Role-based security with sharing rules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Apex Trigger plus SOQL queries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937760" y="118872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Custom objects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0" y="118872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12573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Record-triggered flows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37760" y="283464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</a:rPr>
              <a:t>6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Users in 5 roles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0" y="283464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29032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</a:rPr>
              <a:t>9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Reports, 2 dashboards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3311C2C-8B79-0F06-5E02-5F246200769D}"/>
              </a:ext>
            </a:extLst>
          </p:cNvPr>
          <p:cNvSpPr txBox="1"/>
          <p:nvPr/>
        </p:nvSpPr>
        <p:spPr>
          <a:xfrm>
            <a:off x="7010400" y="14097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501A602-20AB-F170-AE86-608B12C0A475}"/>
              </a:ext>
            </a:extLst>
          </p:cNvPr>
          <p:cNvSpPr txBox="1"/>
          <p:nvPr/>
        </p:nvSpPr>
        <p:spPr>
          <a:xfrm>
            <a:off x="495300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43B71F9-AC5E-E1F7-D5FC-3336B0547E25}"/>
              </a:ext>
            </a:extLst>
          </p:cNvPr>
          <p:cNvSpPr txBox="1"/>
          <p:nvPr/>
        </p:nvSpPr>
        <p:spPr>
          <a:xfrm flipV="1">
            <a:off x="7162800" y="2293619"/>
            <a:ext cx="182880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7B1A708A-BB03-CD63-41BC-51D3ADD4D8A0}"/>
              </a:ext>
            </a:extLst>
          </p:cNvPr>
          <p:cNvSpPr txBox="1"/>
          <p:nvPr/>
        </p:nvSpPr>
        <p:spPr>
          <a:xfrm>
            <a:off x="7162800" y="15621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F9520717-CCBF-14AD-240E-3AE3941B1E70}"/>
              </a:ext>
            </a:extLst>
          </p:cNvPr>
          <p:cNvSpPr txBox="1"/>
          <p:nvPr/>
        </p:nvSpPr>
        <p:spPr>
          <a:xfrm>
            <a:off x="4937760" y="123516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</a:rPr>
              <a:t>4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Application setup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 name: Hotel Management System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Lightning app with Standard Navigation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 logo uploaded in App Manager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Tabs: Rooms, Guests, Reservations, Hotel Staff, Reports, Dashboards</a:t>
            </a:r>
            <a:endParaRPr lang="en-US" sz="1600" dirty="0"/>
          </a:p>
        </p:txBody>
      </p:sp>
      <p:sp>
        <p:nvSpPr>
          <p:cNvPr id="5" name="Screenshot placeholder"/>
          <p:cNvSpPr/>
          <p:nvPr/>
        </p:nvSpPr>
        <p:spPr>
          <a:xfrm>
            <a:off x="4389120" y="1188720"/>
            <a:ext cx="429768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6" name="Screenshot label"/>
          <p:cNvSpPr txBox="1"/>
          <p:nvPr/>
        </p:nvSpPr>
        <p:spPr>
          <a:xfrm>
            <a:off x="4480560" y="11887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App home page with logo and navigation items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43724F-1CE0-65DF-AD64-98D8C48AB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259497"/>
            <a:ext cx="4114800" cy="30030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model</a:t>
            </a:r>
            <a:endParaRPr lang="en-US" sz="3200" dirty="0"/>
          </a:p>
        </p:txBody>
      </p:sp>
      <p:sp>
        <p:nvSpPr>
          <p:cNvPr id="4" name="Screenshot placeholder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5" name="Screenshot label"/>
          <p:cNvSpPr txBox="1"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Room: Fields &amp; Relationships</a:t>
            </a:r>
            <a:endParaRPr lang="en-US" sz="1100" dirty="0"/>
          </a:p>
        </p:txBody>
      </p:sp>
      <p:sp>
        <p:nvSpPr>
          <p:cNvPr id="6" name="Screenshot placeholder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7" name="Screenshot label"/>
          <p:cNvSpPr txBox="1"/>
          <p:nvPr/>
        </p:nvSpPr>
        <p:spPr>
          <a:xfrm>
            <a:off x="4754880" y="1188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Guest: Fields &amp; Relationships</a:t>
            </a:r>
            <a:endParaRPr lang="en-US" sz="1100" dirty="0"/>
          </a:p>
        </p:txBody>
      </p:sp>
      <p:sp>
        <p:nvSpPr>
          <p:cNvPr id="8" name="Screenshot placeholder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9" name="Screenshot label"/>
          <p:cNvSpPr txBox="1"/>
          <p:nvPr/>
        </p:nvSpPr>
        <p:spPr>
          <a:xfrm>
            <a:off x="548640" y="2788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Reservation: Fields &amp; Relationships</a:t>
            </a:r>
            <a:endParaRPr lang="en-US" sz="1100" dirty="0"/>
          </a:p>
        </p:txBody>
      </p:sp>
      <p:sp>
        <p:nvSpPr>
          <p:cNvPr id="10" name="Screenshot placeholder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1" name="Screenshot label"/>
          <p:cNvSpPr txBox="1"/>
          <p:nvPr/>
        </p:nvSpPr>
        <p:spPr>
          <a:xfrm>
            <a:off x="4754880" y="2788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Hotel Staff: Fields &amp; Relationships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Reservation looks up Guest and Room. Hotel Staff stands alone.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ED721EB-6A29-8C6F-A4DF-9BCBBA18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22" y="1195666"/>
            <a:ext cx="4009281" cy="14367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021F8C-88D9-A92E-EBA0-28B531366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44991"/>
            <a:ext cx="4009282" cy="13873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6729046-30BB-DA71-0F32-B1FC81B2C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77" y="2805816"/>
            <a:ext cx="4009283" cy="14461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25D538D-EC15-28E5-023D-5EC93685F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806162"/>
            <a:ext cx="4009282" cy="14457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Validation rules and formulas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307238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Object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Rule or formula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Room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Rate and capacity above zero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Guest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Date of birth not in the future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Reservation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Check-out after check-in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Reservation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Guests within room capacity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Reservation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No Maintenance room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Defaults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Room: Available | Reservation: Confirmed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Formulas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</a:rPr>
                        <a:t>Age, Nights, Estimated Amount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creenshot placeholder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3" name="Screenshot label"/>
          <p:cNvSpPr txBox="1"/>
          <p:nvPr/>
        </p:nvSpPr>
        <p:spPr>
          <a:xfrm>
            <a:off x="5760720" y="1188720"/>
            <a:ext cx="2834640" cy="590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Reservation validation rules list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4C9B42-CC46-9774-18ED-55E952D0D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56" y="1985742"/>
            <a:ext cx="3017544" cy="1432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Layouts and related lists</a:t>
            </a:r>
            <a:endParaRPr lang="en-US" sz="3200" dirty="0"/>
          </a:p>
        </p:txBody>
      </p:sp>
      <p:sp>
        <p:nvSpPr>
          <p:cNvPr id="4" name="Screenshot placeholder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5" name="Screenshot label"/>
          <p:cNvSpPr txBox="1"/>
          <p:nvPr/>
        </p:nvSpPr>
        <p:spPr>
          <a:xfrm>
            <a:off x="548640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Reservation page layout</a:t>
            </a:r>
            <a:endParaRPr lang="en-US" sz="1100" dirty="0"/>
          </a:p>
        </p:txBody>
      </p:sp>
      <p:sp>
        <p:nvSpPr>
          <p:cNvPr id="6" name="Screenshot placeholder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7" name="Screenshot label"/>
          <p:cNvSpPr txBox="1"/>
          <p:nvPr/>
        </p:nvSpPr>
        <p:spPr>
          <a:xfrm>
            <a:off x="3337560" y="1188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Compact layout / record highlights</a:t>
            </a:r>
            <a:endParaRPr lang="en-US" sz="1100" dirty="0"/>
          </a:p>
        </p:txBody>
      </p:sp>
      <p:sp>
        <p:nvSpPr>
          <p:cNvPr id="8" name="Screenshot placeholder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9" name="Screenshot label"/>
          <p:cNvSpPr txBox="1"/>
          <p:nvPr/>
        </p:nvSpPr>
        <p:spPr>
          <a:xfrm>
            <a:off x="6126480" y="1188720"/>
            <a:ext cx="2468880" cy="893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Room record with Reservations related list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Page layouts, compact layouts and related lists for each object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FE3E1B-3E66-8C94-E66E-2121F67B4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26" y="1971235"/>
            <a:ext cx="2651760" cy="12934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B97546-B122-EFA7-A688-10BE53675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971235"/>
            <a:ext cx="2631744" cy="12934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F01E94-5031-9531-B9F1-B843E6AA8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979481"/>
            <a:ext cx="2645666" cy="12769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Record-triggered flows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61872"/>
            <a:ext cx="2377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1. Guest confirmation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On create: gets the Guest and emails a confirmation</a:t>
            </a:r>
            <a:endParaRPr lang="en-US" sz="1500" dirty="0"/>
          </a:p>
        </p:txBody>
      </p:sp>
      <p:sp>
        <p:nvSpPr>
          <p:cNvPr id="6" name="Screenshot placeholder"/>
          <p:cNvSpPr/>
          <p:nvPr/>
        </p:nvSpPr>
        <p:spPr>
          <a:xfrm>
            <a:off x="457200" y="2697480"/>
            <a:ext cx="26517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7" name="Screenshot label"/>
          <p:cNvSpPr txBox="1"/>
          <p:nvPr/>
        </p:nvSpPr>
        <p:spPr>
          <a:xfrm>
            <a:off x="548640" y="269748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Flow 1 canvas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261872"/>
            <a:ext cx="2377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2. Room status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Checked-In sets Occupied; Checked-Out sets Cleaning</a:t>
            </a:r>
            <a:endParaRPr lang="en-US" sz="1500" dirty="0"/>
          </a:p>
        </p:txBody>
      </p:sp>
      <p:sp>
        <p:nvSpPr>
          <p:cNvPr id="10" name="Screenshot placeholder"/>
          <p:cNvSpPr/>
          <p:nvPr/>
        </p:nvSpPr>
        <p:spPr>
          <a:xfrm>
            <a:off x="3246120" y="2697480"/>
            <a:ext cx="26517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1" name="Screenshot label"/>
          <p:cNvSpPr txBox="1"/>
          <p:nvPr/>
        </p:nvSpPr>
        <p:spPr>
          <a:xfrm>
            <a:off x="3337560" y="269748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Flow 2 canvas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261872"/>
            <a:ext cx="2377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3. Cancellation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Cancelled sends an email to the Hotel Manager</a:t>
            </a:r>
            <a:endParaRPr lang="en-US" sz="1500" dirty="0"/>
          </a:p>
        </p:txBody>
      </p:sp>
      <p:sp>
        <p:nvSpPr>
          <p:cNvPr id="14" name="Screenshot placeholder"/>
          <p:cNvSpPr/>
          <p:nvPr/>
        </p:nvSpPr>
        <p:spPr>
          <a:xfrm>
            <a:off x="6035040" y="2697480"/>
            <a:ext cx="26517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5" name="Screenshot label"/>
          <p:cNvSpPr txBox="1"/>
          <p:nvPr/>
        </p:nvSpPr>
        <p:spPr>
          <a:xfrm>
            <a:off x="6126480" y="269748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Flow 3 canvas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75AE7A-3377-0791-B8FE-7433D88C8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9240"/>
            <a:ext cx="2651760" cy="17830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71C00E-8CD4-5FB9-645C-7047CD3AD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697482"/>
            <a:ext cx="2651760" cy="17830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93DF22-9536-5107-3A2D-6C117EC1C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699240"/>
            <a:ext cx="2651760" cy="1781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Flows in action</a:t>
            </a:r>
            <a:endParaRPr lang="en-US" sz="3200" dirty="0"/>
          </a:p>
        </p:txBody>
      </p:sp>
      <p:sp>
        <p:nvSpPr>
          <p:cNvPr id="4" name="Screenshot placeholder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5" name="Screenshot label"/>
          <p:cNvSpPr txBox="1"/>
          <p:nvPr/>
        </p:nvSpPr>
        <p:spPr>
          <a:xfrm>
            <a:off x="548640" y="1188720"/>
            <a:ext cx="246888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Confirmation email received by the guest</a:t>
            </a:r>
            <a:endParaRPr lang="en-US" sz="1100" dirty="0"/>
          </a:p>
        </p:txBody>
      </p:sp>
      <p:sp>
        <p:nvSpPr>
          <p:cNvPr id="6" name="Screenshot placeholder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7" name="Screenshot label"/>
          <p:cNvSpPr txBox="1"/>
          <p:nvPr/>
        </p:nvSpPr>
        <p:spPr>
          <a:xfrm>
            <a:off x="3337560" y="1188720"/>
            <a:ext cx="24688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Room status changing to Occupied, then Cleaning</a:t>
            </a:r>
            <a:endParaRPr lang="en-US" sz="1100" dirty="0"/>
          </a:p>
        </p:txBody>
      </p:sp>
      <p:sp>
        <p:nvSpPr>
          <p:cNvPr id="8" name="Screenshot placeholder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9" name="Screenshot label"/>
          <p:cNvSpPr txBox="1"/>
          <p:nvPr/>
        </p:nvSpPr>
        <p:spPr>
          <a:xfrm>
            <a:off x="6126480" y="1188720"/>
            <a:ext cx="246888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Cancellation email to the Hotel Manager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 reservation, check in, check out, then cancel another 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30C3CB-CF20-C597-A22E-1943FF180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784306"/>
            <a:ext cx="2651760" cy="10994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8BDB93-ED9E-BA6B-EE70-00C151411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83743"/>
            <a:ext cx="2651760" cy="10451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8F907E-1BA3-6BB9-5368-062EF5BB1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06147"/>
            <a:ext cx="2651760" cy="22143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47B0CA-6933-8118-A74D-BA8937B1B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768351"/>
            <a:ext cx="2651760" cy="21521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Roles and users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1463040" y="1188720"/>
            <a:ext cx="219456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Hotel CEO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1920240"/>
            <a:ext cx="21945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Hotel Manager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60320" y="1645920"/>
            <a:ext cx="0" cy="2743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2377440"/>
            <a:ext cx="0" cy="2286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2606040"/>
            <a:ext cx="28803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2606040"/>
            <a:ext cx="0" cy="2286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51760" y="2606040"/>
            <a:ext cx="0" cy="2286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23360" y="2606040"/>
            <a:ext cx="0" cy="2286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83464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Receptionist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2834640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Housekeeping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834640"/>
            <a:ext cx="109728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Accounts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520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Receptionist 1 and 2 share one role. All six users have the Salesforce Platform license.</a:t>
            </a:r>
            <a:endParaRPr lang="en-US" sz="1400" dirty="0"/>
          </a:p>
        </p:txBody>
      </p:sp>
      <p:sp>
        <p:nvSpPr>
          <p:cNvPr id="16" name="Screenshot placeholder"/>
          <p:cNvSpPr/>
          <p:nvPr/>
        </p:nvSpPr>
        <p:spPr>
          <a:xfrm>
            <a:off x="484632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7" name="Screenshot label"/>
          <p:cNvSpPr txBox="1"/>
          <p:nvPr/>
        </p:nvSpPr>
        <p:spPr>
          <a:xfrm>
            <a:off x="493776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Users list with role and profile columns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250D96-B856-65B2-ACED-1368BD04C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84047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Access and sharing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61872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Organization-wide defaults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Room: Public Read/Write. Guest and Reservation: Private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1261872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Sharing rules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Receptionists share Reservations and Guests; Accounts reads Reservations</a:t>
            </a:r>
            <a:endParaRPr lang="en-US" sz="1500" dirty="0"/>
          </a:p>
        </p:txBody>
      </p:sp>
      <p:sp>
        <p:nvSpPr>
          <p:cNvPr id="8" name="Screenshot placeholder"/>
          <p:cNvSpPr/>
          <p:nvPr/>
        </p:nvSpPr>
        <p:spPr>
          <a:xfrm>
            <a:off x="457200" y="2377440"/>
            <a:ext cx="26517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9" name="Screenshot label"/>
          <p:cNvSpPr txBox="1"/>
          <p:nvPr/>
        </p:nvSpPr>
        <p:spPr>
          <a:xfrm>
            <a:off x="548640" y="2377440"/>
            <a:ext cx="24688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Organization-Wide Defaults</a:t>
            </a:r>
            <a:endParaRPr lang="en-US" sz="1100" dirty="0"/>
          </a:p>
        </p:txBody>
      </p:sp>
      <p:sp>
        <p:nvSpPr>
          <p:cNvPr id="10" name="Screenshot placeholder"/>
          <p:cNvSpPr/>
          <p:nvPr/>
        </p:nvSpPr>
        <p:spPr>
          <a:xfrm>
            <a:off x="3246120" y="2377440"/>
            <a:ext cx="26517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1" name="Screenshot label"/>
          <p:cNvSpPr txBox="1"/>
          <p:nvPr/>
        </p:nvSpPr>
        <p:spPr>
          <a:xfrm>
            <a:off x="3337560" y="2377440"/>
            <a:ext cx="246888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Sharing rules list</a:t>
            </a:r>
            <a:endParaRPr lang="en-US" sz="1100" dirty="0"/>
          </a:p>
        </p:txBody>
      </p:sp>
      <p:sp>
        <p:nvSpPr>
          <p:cNvPr id="12" name="Screenshot placeholder"/>
          <p:cNvSpPr/>
          <p:nvPr/>
        </p:nvSpPr>
        <p:spPr>
          <a:xfrm>
            <a:off x="6035040" y="2377440"/>
            <a:ext cx="26517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3" name="Screenshot label"/>
          <p:cNvSpPr txBox="1"/>
          <p:nvPr/>
        </p:nvSpPr>
        <p:spPr>
          <a:xfrm>
            <a:off x="6126480" y="237744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Permission set object settings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5EDA52-97B3-CA03-0FA1-1FA278DC1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7200"/>
            <a:ext cx="2651760" cy="9288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08B1C1-DE07-ED1B-6440-9D9DA5B96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927200"/>
            <a:ext cx="2651760" cy="7761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2AD4F9-4B05-496A-9953-E24F90DD2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695903"/>
            <a:ext cx="2651760" cy="17405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Access checked per user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61872"/>
            <a:ext cx="1645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Receptionist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Create and edit reservations, no Delete</a:t>
            </a:r>
            <a:endParaRPr lang="en-US" sz="1500" dirty="0"/>
          </a:p>
        </p:txBody>
      </p:sp>
      <p:sp>
        <p:nvSpPr>
          <p:cNvPr id="6" name="Screenshot placeholder"/>
          <p:cNvSpPr/>
          <p:nvPr/>
        </p:nvSpPr>
        <p:spPr>
          <a:xfrm>
            <a:off x="457200" y="274320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7" name="Screenshot label"/>
          <p:cNvSpPr txBox="1"/>
          <p:nvPr/>
        </p:nvSpPr>
        <p:spPr>
          <a:xfrm>
            <a:off x="548641" y="267462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Receptionist login view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97480" y="1261872"/>
            <a:ext cx="1645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Housekeeping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Edits Room Status only, no guest data</a:t>
            </a:r>
            <a:endParaRPr lang="en-US" sz="1500" dirty="0"/>
          </a:p>
        </p:txBody>
      </p:sp>
      <p:sp>
        <p:nvSpPr>
          <p:cNvPr id="10" name="Screenshot placeholder"/>
          <p:cNvSpPr/>
          <p:nvPr/>
        </p:nvSpPr>
        <p:spPr>
          <a:xfrm>
            <a:off x="2560320" y="274320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1" name="Screenshot label"/>
          <p:cNvSpPr txBox="1"/>
          <p:nvPr/>
        </p:nvSpPr>
        <p:spPr>
          <a:xfrm>
            <a:off x="2651760" y="2743200"/>
            <a:ext cx="173736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Housekeeping login view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1261872"/>
            <a:ext cx="1645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Accounts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Sees Estimated Amount, cannot edit status</a:t>
            </a:r>
            <a:endParaRPr lang="en-US" sz="1500" dirty="0"/>
          </a:p>
        </p:txBody>
      </p:sp>
      <p:sp>
        <p:nvSpPr>
          <p:cNvPr id="14" name="Screenshot placeholder"/>
          <p:cNvSpPr/>
          <p:nvPr/>
        </p:nvSpPr>
        <p:spPr>
          <a:xfrm>
            <a:off x="4663440" y="274320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5" name="Screenshot label"/>
          <p:cNvSpPr txBox="1"/>
          <p:nvPr/>
        </p:nvSpPr>
        <p:spPr>
          <a:xfrm>
            <a:off x="4754880" y="2743200"/>
            <a:ext cx="173736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Accounts login view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3720" y="1261872"/>
            <a:ext cx="16459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Manager and CEO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See all reservations and rooms</a:t>
            </a:r>
            <a:endParaRPr lang="en-US" sz="1500" dirty="0"/>
          </a:p>
        </p:txBody>
      </p:sp>
      <p:sp>
        <p:nvSpPr>
          <p:cNvPr id="18" name="Screenshot placeholder"/>
          <p:cNvSpPr/>
          <p:nvPr/>
        </p:nvSpPr>
        <p:spPr>
          <a:xfrm>
            <a:off x="6766560" y="274320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9" name="Screenshot label"/>
          <p:cNvSpPr txBox="1"/>
          <p:nvPr/>
        </p:nvSpPr>
        <p:spPr>
          <a:xfrm>
            <a:off x="685800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Manager and CEO login 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1AD0BA7-7ADE-1DD3-5B98-501B41307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13588"/>
            <a:ext cx="1906748" cy="8651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D6F07E6-7AA8-42A9-EF98-5360250E1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213588"/>
            <a:ext cx="1910734" cy="8651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9D8EB4-F2D2-09D4-8459-A8427E8FBA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740" y="3213588"/>
            <a:ext cx="1911940" cy="8651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CCA720F-9655-96A7-F305-D35943981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1" y="3213588"/>
            <a:ext cx="1920240" cy="8693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Reports and dashboards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Today's check-ins and check-outs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Rooms by status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Current month and cancelled reservations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Room-wise and guest-wise history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Reservations by room type (pie)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Monthly estimated revenue</a:t>
            </a:r>
            <a:endParaRPr lang="en-US" sz="1500" dirty="0"/>
          </a:p>
        </p:txBody>
      </p:sp>
      <p:sp>
        <p:nvSpPr>
          <p:cNvPr id="5" name="Screenshot placeholder"/>
          <p:cNvSpPr/>
          <p:nvPr/>
        </p:nvSpPr>
        <p:spPr>
          <a:xfrm>
            <a:off x="4023360" y="1188720"/>
            <a:ext cx="21945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6" name="Screenshot label"/>
          <p:cNvSpPr txBox="1"/>
          <p:nvPr/>
        </p:nvSpPr>
        <p:spPr>
          <a:xfrm>
            <a:off x="4114800" y="11887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Pie chart: reservations by room type</a:t>
            </a:r>
            <a:endParaRPr lang="en-US" sz="1100" dirty="0"/>
          </a:p>
        </p:txBody>
      </p:sp>
      <p:sp>
        <p:nvSpPr>
          <p:cNvPr id="7" name="Screenshot placeholder"/>
          <p:cNvSpPr/>
          <p:nvPr/>
        </p:nvSpPr>
        <p:spPr>
          <a:xfrm>
            <a:off x="6355080" y="1188720"/>
            <a:ext cx="23317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8" name="Screenshot label"/>
          <p:cNvSpPr txBox="1"/>
          <p:nvPr/>
        </p:nvSpPr>
        <p:spPr>
          <a:xfrm>
            <a:off x="6446520" y="118872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Monthly estimated revenue report</a:t>
            </a:r>
            <a:endParaRPr lang="en-US" sz="1100" dirty="0"/>
          </a:p>
        </p:txBody>
      </p:sp>
      <p:sp>
        <p:nvSpPr>
          <p:cNvPr id="9" name="Screenshot placeholder"/>
          <p:cNvSpPr/>
          <p:nvPr/>
        </p:nvSpPr>
        <p:spPr>
          <a:xfrm>
            <a:off x="4023360" y="2880360"/>
            <a:ext cx="21945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0" name="Screenshot label"/>
          <p:cNvSpPr txBox="1"/>
          <p:nvPr/>
        </p:nvSpPr>
        <p:spPr>
          <a:xfrm>
            <a:off x="4114800" y="288036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Dashboard: check-ins and check-outs</a:t>
            </a:r>
            <a:endParaRPr lang="en-US" sz="1100" dirty="0"/>
          </a:p>
        </p:txBody>
      </p:sp>
      <p:sp>
        <p:nvSpPr>
          <p:cNvPr id="11" name="Screenshot placeholder"/>
          <p:cNvSpPr/>
          <p:nvPr/>
        </p:nvSpPr>
        <p:spPr>
          <a:xfrm>
            <a:off x="6355080" y="2880360"/>
            <a:ext cx="23317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2" name="Screenshot label"/>
          <p:cNvSpPr txBox="1"/>
          <p:nvPr/>
        </p:nvSpPr>
        <p:spPr>
          <a:xfrm>
            <a:off x="6446520" y="28803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SCREENSHOT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Dashboard: room counts by status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7056B0-4BF3-4AA5-1B30-DF996BE8F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842" y="1209555"/>
            <a:ext cx="4666957" cy="15336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ED7B77-2600-670F-C335-FA261D2F1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59" y="2880360"/>
            <a:ext cx="4663439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93895" y="183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Apex trigger: ReservationTrigger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Blocks overlapping active reservations for a room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Blocks Confirmed reservations for Maintenance rooms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Created sets the room to Reserved; Cancelled sets it to Available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Logic sits in a handler class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Check-in and check-out updates stay in the flow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15532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CC4395F-3D68-9B2E-FF23-FE965DCADC76}"/>
              </a:ext>
            </a:extLst>
          </p:cNvPr>
          <p:cNvGrpSpPr/>
          <p:nvPr/>
        </p:nvGrpSpPr>
        <p:grpSpPr>
          <a:xfrm>
            <a:off x="4269544" y="1033976"/>
            <a:ext cx="4572000" cy="3291840"/>
            <a:chOff x="4114800" y="1188720"/>
            <a:chExt cx="4572000" cy="3291840"/>
          </a:xfrm>
        </p:grpSpPr>
        <p:sp>
          <p:nvSpPr>
            <p:cNvPr id="5" name="Screenshot placeholder"/>
            <p:cNvSpPr/>
            <p:nvPr/>
          </p:nvSpPr>
          <p:spPr>
            <a:xfrm>
              <a:off x="4114800" y="1188720"/>
              <a:ext cx="4572000" cy="3291840"/>
            </a:xfrm>
            <a:prstGeom prst="roundRect">
              <a:avLst>
                <a:gd name="adj" fmla="val 2778"/>
              </a:avLst>
            </a:prstGeom>
            <a:solidFill>
              <a:schemeClr val="bg2"/>
            </a:solidFill>
            <a:ln w="15875">
              <a:solidFill>
                <a:schemeClr val="accent3"/>
              </a:solidFill>
              <a:prstDash val="dash"/>
            </a:ln>
          </p:spPr>
        </p:sp>
        <p:sp>
          <p:nvSpPr>
            <p:cNvPr id="6" name="Screenshot label"/>
            <p:cNvSpPr txBox="1"/>
            <p:nvPr/>
          </p:nvSpPr>
          <p:spPr>
            <a:xfrm>
              <a:off x="4480560" y="1188720"/>
              <a:ext cx="4114800" cy="3868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1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ReservationTrigger and handler code</a:t>
              </a:r>
              <a:endParaRPr lang="en-US" sz="110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A836CFF-935F-F213-7A0E-361C311F8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3975" y="1665263"/>
              <a:ext cx="2242825" cy="281529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1D45629-9330-BF59-B9E3-45043EDC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0" y="1665263"/>
              <a:ext cx="2329175" cy="28152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Trigger test scenarios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16459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Valid insert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Saves; room becomes Reserved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Overlapping insert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Blocked with overlap error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Valid update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Saves with the new dates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Overlapping update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Blocked with overlap error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Relationship query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E"/>
                          </a:solidFill>
                        </a:rPr>
                        <a:t>Parent and child fields returned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creenshot placeholder"/>
          <p:cNvSpPr/>
          <p:nvPr/>
        </p:nvSpPr>
        <p:spPr>
          <a:xfrm>
            <a:off x="457200" y="310896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6" name="Screenshot label"/>
          <p:cNvSpPr txBox="1"/>
          <p:nvPr/>
        </p:nvSpPr>
        <p:spPr>
          <a:xfrm>
            <a:off x="548640" y="3108960"/>
            <a:ext cx="2468880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Valid insert saved, room Reserved</a:t>
            </a:r>
            <a:endParaRPr lang="en-US" sz="1100" dirty="0"/>
          </a:p>
        </p:txBody>
      </p:sp>
      <p:sp>
        <p:nvSpPr>
          <p:cNvPr id="7" name="Screenshot placeholder"/>
          <p:cNvSpPr/>
          <p:nvPr/>
        </p:nvSpPr>
        <p:spPr>
          <a:xfrm>
            <a:off x="3246120" y="310896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8" name="Screenshot label"/>
          <p:cNvSpPr txBox="1"/>
          <p:nvPr/>
        </p:nvSpPr>
        <p:spPr>
          <a:xfrm>
            <a:off x="3337560" y="3108960"/>
            <a:ext cx="2226212" cy="133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Blocked: overlapping insert</a:t>
            </a:r>
            <a:endParaRPr lang="en-US" sz="1100" dirty="0"/>
          </a:p>
        </p:txBody>
      </p:sp>
      <p:sp>
        <p:nvSpPr>
          <p:cNvPr id="9" name="Screenshot placeholder"/>
          <p:cNvSpPr/>
          <p:nvPr/>
        </p:nvSpPr>
        <p:spPr>
          <a:xfrm>
            <a:off x="6035040" y="310896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0" name="Screenshot label"/>
          <p:cNvSpPr txBox="1"/>
          <p:nvPr/>
        </p:nvSpPr>
        <p:spPr>
          <a:xfrm>
            <a:off x="6126480" y="3108960"/>
            <a:ext cx="2468880" cy="133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Blocked: overlapping update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AE4BE-4AA6-C8DD-BFB9-FBA8B02EC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356" y="3337559"/>
            <a:ext cx="1754619" cy="11887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ABCEB4-C481-8D0C-30B1-9FF32E9B0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80" y="3383279"/>
            <a:ext cx="1782235" cy="1143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259EFD-1CF5-E12E-B302-9D459A69D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381" y="3360418"/>
            <a:ext cx="2165539" cy="11887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SOQL relationship queries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Parent-to-child: Room to Reservations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Child-to-parent: Reservation to Room and Guest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00200"/>
            <a:ext cx="4023360" cy="10972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Name, Room_Type__c,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(SELECT Name, Check_In_Date__c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Reservations__r)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Room__c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600200"/>
            <a:ext cx="4023360" cy="10972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Room__r.Name,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Room__r.Room_Type__c,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Guest__r.First_Name__c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Reservation__c</a:t>
            </a:r>
            <a:endParaRPr lang="en-US" sz="1100" dirty="0"/>
          </a:p>
        </p:txBody>
      </p:sp>
      <p:sp>
        <p:nvSpPr>
          <p:cNvPr id="8" name="Screenshot placeholder"/>
          <p:cNvSpPr/>
          <p:nvPr/>
        </p:nvSpPr>
        <p:spPr>
          <a:xfrm>
            <a:off x="457200" y="2743200"/>
            <a:ext cx="4023360" cy="205740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2" name="Screenshot placeholder">
            <a:extLst>
              <a:ext uri="{FF2B5EF4-FFF2-40B4-BE49-F238E27FC236}">
                <a16:creationId xmlns:a16="http://schemas.microsoft.com/office/drawing/2014/main" id="{E73A950C-CFA3-EA1C-F823-CEF1B1516030}"/>
              </a:ext>
            </a:extLst>
          </p:cNvPr>
          <p:cNvSpPr/>
          <p:nvPr/>
        </p:nvSpPr>
        <p:spPr>
          <a:xfrm>
            <a:off x="4663440" y="2753026"/>
            <a:ext cx="4023360" cy="2047574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89D4ADD-D37F-1A32-7E88-F47731BFC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79"/>
            <a:ext cx="4023360" cy="18091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B916F4-DAF5-A945-600D-D4D22077B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19781"/>
            <a:ext cx="4023360" cy="18217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2082018"/>
            <a:ext cx="8398412" cy="2124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Video Presentation: </a:t>
            </a:r>
            <a:r>
              <a:rPr lang="en-US" sz="1600" dirty="0">
                <a:solidFill>
                  <a:schemeClr val="bg1"/>
                </a:solidFill>
                <a:hlinkClick r:id="rId3"/>
              </a:rPr>
              <a:t>https://drive.google.com/drive/folders/16PEJO3l_uV21CiDHBBvz2OTBH9vUqDLY?usp=sharing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9E9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tel Capstone">
  <a:themeElements>
    <a:clrScheme name="Hotel Capstone">
      <a:dk1>
        <a:srgbClr val="1B2B2E"/>
      </a:dk1>
      <a:lt1>
        <a:srgbClr val="FFFFFF"/>
      </a:lt1>
      <a:dk2>
        <a:srgbClr val="14343B"/>
      </a:dk2>
      <a:lt2>
        <a:srgbClr val="EEF3F2"/>
      </a:lt2>
      <a:accent1>
        <a:srgbClr val="C8963E"/>
      </a:accent1>
      <a:accent2>
        <a:srgbClr val="2A7F7F"/>
      </a:accent2>
      <a:accent3>
        <a:srgbClr val="7A9E9F"/>
      </a:accent3>
      <a:accent4>
        <a:srgbClr val="B85042"/>
      </a:accent4>
      <a:accent5>
        <a:srgbClr val="5B7C99"/>
      </a:accent5>
      <a:accent6>
        <a:srgbClr val="8A9A5B"/>
      </a:accent6>
      <a:hlink>
        <a:srgbClr val="2A7F7F"/>
      </a:hlink>
      <a:folHlink>
        <a:srgbClr val="7A9E9F"/>
      </a:folHlink>
    </a:clrScheme>
    <a:fontScheme name="Hotel Capst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1354</Words>
  <Application>Microsoft Office PowerPoint</Application>
  <PresentationFormat>On-screen Show (16:9)</PresentationFormat>
  <Paragraphs>228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Hotel Capstone</vt:lpstr>
      <vt:lpstr>Hotel Management System</vt:lpstr>
      <vt:lpstr>Project Overview</vt:lpstr>
      <vt:lpstr>Application setup</vt:lpstr>
      <vt:lpstr>Data model</vt:lpstr>
      <vt:lpstr>Validation rules and formulas</vt:lpstr>
      <vt:lpstr>Layouts and related lists</vt:lpstr>
      <vt:lpstr>Record-triggered flows</vt:lpstr>
      <vt:lpstr>Flows in action</vt:lpstr>
      <vt:lpstr>Roles and users</vt:lpstr>
      <vt:lpstr>Access and sharing</vt:lpstr>
      <vt:lpstr>Access checked per user</vt:lpstr>
      <vt:lpstr>Reports and dashboards</vt:lpstr>
      <vt:lpstr>Apex trigger: ReservationTrigger</vt:lpstr>
      <vt:lpstr>Trigger test scenarios</vt:lpstr>
      <vt:lpstr>SOQL relationship queries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Management System - Salesforce Capstone</dc:title>
  <dc:subject>PptxGenJS Presentation</dc:subject>
  <dc:creator>Vraddhi</dc:creator>
  <cp:lastModifiedBy>Vraddhi Srivastava</cp:lastModifiedBy>
  <cp:revision>2</cp:revision>
  <dcterms:created xsi:type="dcterms:W3CDTF">2026-10-23T06:15:09Z</dcterms:created>
  <dcterms:modified xsi:type="dcterms:W3CDTF">2026-10-23T09:26:20Z</dcterms:modified>
</cp:coreProperties>
</file>